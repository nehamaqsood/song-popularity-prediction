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Lustria"/>
      <p:regular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UPb+5XpFMgFNsILpLpcB2fJBK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ustria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6116e335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e6116e335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ctrTitle"/>
          </p:nvPr>
        </p:nvSpPr>
        <p:spPr>
          <a:xfrm>
            <a:off x="704088" y="889820"/>
            <a:ext cx="9989574" cy="3598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Open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704088" y="4488426"/>
            <a:ext cx="6991776" cy="13027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715383" y="4589463"/>
            <a:ext cx="1063206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704088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6181344" y="2221992"/>
            <a:ext cx="5212080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704088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704088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6181344" y="1756538"/>
            <a:ext cx="521208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4"/>
          <p:cNvSpPr txBox="1"/>
          <p:nvPr>
            <p:ph idx="4" type="body"/>
          </p:nvPr>
        </p:nvSpPr>
        <p:spPr>
          <a:xfrm>
            <a:off x="6181344" y="2442702"/>
            <a:ext cx="5212080" cy="351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5183188" y="1069848"/>
            <a:ext cx="6172200" cy="4791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704088" y="2551176"/>
            <a:ext cx="4093599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/>
          <p:nvPr>
            <p:ph idx="2" type="pic"/>
          </p:nvPr>
        </p:nvSpPr>
        <p:spPr>
          <a:xfrm>
            <a:off x="5183188" y="1066800"/>
            <a:ext cx="6172200" cy="479425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704088" y="2552700"/>
            <a:ext cx="4103431" cy="331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 rot="5400000">
            <a:off x="4176320" y="-1253693"/>
            <a:ext cx="3739896" cy="1069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 rot="5400000">
            <a:off x="7924366" y="2315931"/>
            <a:ext cx="4984956" cy="23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 rot="5400000">
            <a:off x="2513147" y="-746247"/>
            <a:ext cx="4984956" cy="847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8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" name="Google Shape;12;p8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  <a:defRPr b="0" i="0" sz="4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7"/>
          <p:cNvCxnSpPr/>
          <p:nvPr/>
        </p:nvCxnSpPr>
        <p:spPr>
          <a:xfrm>
            <a:off x="800100" y="723900"/>
            <a:ext cx="10591800" cy="0"/>
          </a:xfrm>
          <a:prstGeom prst="straightConnector1">
            <a:avLst/>
          </a:prstGeom>
          <a:noFill/>
          <a:ln cap="flat" cmpd="sng" w="444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" name="Google Shape;26;p7"/>
          <p:cNvCxnSpPr/>
          <p:nvPr/>
        </p:nvCxnSpPr>
        <p:spPr>
          <a:xfrm>
            <a:off x="800100" y="6142781"/>
            <a:ext cx="10591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-9744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 rot="5400000">
            <a:off x="-423868" y="423750"/>
            <a:ext cx="6858000" cy="6010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6000">
                <a:srgbClr val="000000">
                  <a:alpha val="16862"/>
                </a:srgbClr>
              </a:gs>
              <a:gs pos="46000">
                <a:srgbClr val="000000">
                  <a:alpha val="30980"/>
                </a:srgbClr>
              </a:gs>
              <a:gs pos="100000">
                <a:srgbClr val="000000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02" name="Google Shape;102;p1"/>
          <p:cNvSpPr txBox="1"/>
          <p:nvPr>
            <p:ph type="ctrTitle"/>
          </p:nvPr>
        </p:nvSpPr>
        <p:spPr>
          <a:xfrm>
            <a:off x="313775" y="908650"/>
            <a:ext cx="10893300" cy="22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Open Sans"/>
              <a:buNone/>
            </a:pPr>
            <a:r>
              <a:rPr lang="en-US" sz="6800"/>
              <a:t>Predicting Song Popularity with Deep Learning</a:t>
            </a:r>
            <a:endParaRPr sz="6800"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313775" y="3183900"/>
            <a:ext cx="7001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A Data-Driven Approach for Streaming Platforms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439006" y="727509"/>
            <a:ext cx="1638300" cy="0"/>
          </a:xfrm>
          <a:prstGeom prst="straightConnector1">
            <a:avLst/>
          </a:prstGeom>
          <a:noFill/>
          <a:ln cap="flat" cmpd="sng" w="444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439000" y="4172400"/>
            <a:ext cx="80370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DECISION 546Q Final Project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Team 45: Sam MacArthur, Ziling Chen, Chris Chen, Neha Masqsood, Krishna Gupta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6" name="Google Shape;106;p1" title="Screenshot 2025-12-07 at 11.50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65846"/>
            <a:ext cx="700625" cy="69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700625" y="914400"/>
            <a:ext cx="10691400" cy="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3800">
                <a:highlight>
                  <a:srgbClr val="FFFFFF"/>
                </a:highlight>
              </a:rPr>
              <a:t>The Problem</a:t>
            </a:r>
            <a:endParaRPr sz="3800">
              <a:highlight>
                <a:srgbClr val="FFFFFF"/>
              </a:highlight>
            </a:endParaRPr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700625" y="2222000"/>
            <a:ext cx="5722200" cy="3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Streaming platforms have become the central channel for music consumption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Predicting song popularity is essential to prevent churn and maintain market share</a:t>
            </a:r>
            <a:endParaRPr/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Deep learning cannot predict with certainty, but provides actionable estimates</a:t>
            </a:r>
            <a:endParaRPr/>
          </a:p>
        </p:txBody>
      </p:sp>
      <p:pic>
        <p:nvPicPr>
          <p:cNvPr id="113" name="Google Shape;1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825" y="2310900"/>
            <a:ext cx="5383851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700625" y="6591900"/>
            <a:ext cx="2045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</a:rPr>
              <a:t>DECISION 520: Team-45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15" name="Google Shape;115;p2" title="Screenshot 2025-12-07 at 11.50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65846"/>
            <a:ext cx="700625" cy="69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e6116e335_2_10"/>
          <p:cNvSpPr txBox="1"/>
          <p:nvPr>
            <p:ph type="title"/>
          </p:nvPr>
        </p:nvSpPr>
        <p:spPr>
          <a:xfrm>
            <a:off x="700625" y="914400"/>
            <a:ext cx="106914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3800"/>
              <a:t>Dataset</a:t>
            </a:r>
            <a:endParaRPr sz="3800"/>
          </a:p>
        </p:txBody>
      </p:sp>
      <p:sp>
        <p:nvSpPr>
          <p:cNvPr id="121" name="Google Shape;121;g3ae6116e335_2_10"/>
          <p:cNvSpPr txBox="1"/>
          <p:nvPr>
            <p:ph idx="1" type="body"/>
          </p:nvPr>
        </p:nvSpPr>
        <p:spPr>
          <a:xfrm>
            <a:off x="700625" y="2011725"/>
            <a:ext cx="54048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15,000 songs</a:t>
            </a:r>
            <a:endParaRPr b="1"/>
          </a:p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13 audio features</a:t>
            </a:r>
            <a:r>
              <a:rPr lang="en-US"/>
              <a:t>: song_name, song_popularity, song_duration_ms, acousticness, danceability, energy, instrumentalness, key, liveness, loudness, audio_mode, speechiness, tempo, time_signature, audio_valence</a:t>
            </a:r>
            <a:endParaRPr/>
          </a:p>
        </p:txBody>
      </p:sp>
      <p:sp>
        <p:nvSpPr>
          <p:cNvPr id="122" name="Google Shape;122;g3ae6116e335_2_10"/>
          <p:cNvSpPr txBox="1"/>
          <p:nvPr>
            <p:ph idx="1" type="body"/>
          </p:nvPr>
        </p:nvSpPr>
        <p:spPr>
          <a:xfrm>
            <a:off x="6303525" y="2011725"/>
            <a:ext cx="54048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Problems we met: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</a:t>
            </a:r>
            <a:r>
              <a:rPr lang="en-US"/>
              <a:t>eavily imbalanced data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Overfitting model</a:t>
            </a:r>
            <a:endParaRPr/>
          </a:p>
        </p:txBody>
      </p:sp>
      <p:sp>
        <p:nvSpPr>
          <p:cNvPr id="123" name="Google Shape;123;g3ae6116e335_2_10"/>
          <p:cNvSpPr/>
          <p:nvPr/>
        </p:nvSpPr>
        <p:spPr>
          <a:xfrm>
            <a:off x="6303525" y="3572975"/>
            <a:ext cx="5088600" cy="2381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24" name="Google Shape;124;g3ae6116e335_2_10"/>
          <p:cNvSpPr txBox="1"/>
          <p:nvPr>
            <p:ph idx="1" type="body"/>
          </p:nvPr>
        </p:nvSpPr>
        <p:spPr>
          <a:xfrm>
            <a:off x="6475725" y="3694625"/>
            <a:ext cx="4744200" cy="2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Solution：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multilayer perceptron (MLP) neural network with a wider, shallower architecture, and approximately 137,000 trainable parameters</a:t>
            </a:r>
            <a:endParaRPr/>
          </a:p>
        </p:txBody>
      </p:sp>
      <p:pic>
        <p:nvPicPr>
          <p:cNvPr id="125" name="Google Shape;125;g3ae6116e335_2_10" title="Screenshot 2025-12-07 at 11.50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65846"/>
            <a:ext cx="700625" cy="69215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ae6116e335_2_10"/>
          <p:cNvSpPr txBox="1"/>
          <p:nvPr/>
        </p:nvSpPr>
        <p:spPr>
          <a:xfrm>
            <a:off x="700625" y="6591900"/>
            <a:ext cx="2045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</a:rPr>
              <a:t>DECISION 520: Team-45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700625" y="914400"/>
            <a:ext cx="106914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3800"/>
              <a:t>Model Details: MLP</a:t>
            </a:r>
            <a:endParaRPr sz="3800"/>
          </a:p>
        </p:txBody>
      </p:sp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700575" y="3671225"/>
            <a:ext cx="7406400" cy="23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lang="en-US" sz="1900"/>
              <a:t>Layer Details:</a:t>
            </a:r>
            <a:endParaRPr sz="1900"/>
          </a:p>
          <a:p>
            <a:pPr indent="-32210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Lustria"/>
              <a:buAutoNum type="arabicPeriod"/>
            </a:pPr>
            <a:r>
              <a:rPr lang="en-US" sz="1900"/>
              <a:t>Input Layer: 13 features derived from audio attributes such as energy, loudness, tempo, and valence.</a:t>
            </a:r>
            <a:endParaRPr sz="1900"/>
          </a:p>
          <a:p>
            <a:pPr indent="-32210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Lustria"/>
              <a:buAutoNum type="arabicPeriod"/>
            </a:pPr>
            <a:r>
              <a:rPr lang="en-US" sz="1900"/>
              <a:t>Hidden Layer 1: 384 neurons → Batch Normalization → ReLU → Dropout (p=0.15)</a:t>
            </a:r>
            <a:endParaRPr sz="1900"/>
          </a:p>
          <a:p>
            <a:pPr indent="-32210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Lustria"/>
              <a:buAutoNum type="arabicPeriod"/>
            </a:pPr>
            <a:r>
              <a:rPr lang="en-US" sz="1900"/>
              <a:t>Hidden Layer 2: 192 neurons → Batch Normalization → ReLU → Dropout (p=0.15)</a:t>
            </a:r>
            <a:endParaRPr sz="1900"/>
          </a:p>
          <a:p>
            <a:pPr indent="-32210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Lustria"/>
              <a:buAutoNum type="arabicPeriod"/>
            </a:pPr>
            <a:r>
              <a:rPr lang="en-US" sz="1900"/>
              <a:t>Hidden Layer 3: 96 neurons → Batch Normalization → ReLU → Dropout (p=0.10)</a:t>
            </a:r>
            <a:endParaRPr sz="1900"/>
          </a:p>
          <a:p>
            <a:pPr indent="-32210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ct val="100000"/>
              <a:buFont typeface="Lustria"/>
              <a:buAutoNum type="arabicPeriod"/>
            </a:pPr>
            <a:r>
              <a:rPr lang="en-US" sz="1900"/>
              <a:t>Output Layer: 1 neuron (linear activation as a single popularity score)</a:t>
            </a:r>
            <a:endParaRPr sz="1900"/>
          </a:p>
        </p:txBody>
      </p:sp>
      <p:sp>
        <p:nvSpPr>
          <p:cNvPr id="133" name="Google Shape;133;p3"/>
          <p:cNvSpPr txBox="1"/>
          <p:nvPr/>
        </p:nvSpPr>
        <p:spPr>
          <a:xfrm>
            <a:off x="700625" y="1711800"/>
            <a:ext cx="7406400" cy="19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Architecture: 3-layer feedforward neural network (384 → 192 →96 →1)</a:t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Key Modifications: </a:t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stria"/>
              <a:buChar char="●"/>
            </a:pP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Stratified sampling to handle severe class imbalance in the popularity </a:t>
            </a: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distribution</a:t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stria"/>
              <a:buChar char="●"/>
            </a:pPr>
            <a:r>
              <a:rPr b="1" i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CosineAnnealingWarmRestarts</a:t>
            </a: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scheduler</a:t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ustria"/>
              <a:buChar char="●"/>
            </a:pPr>
            <a:r>
              <a:rPr b="1" i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Xavier</a:t>
            </a: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initialization, </a:t>
            </a:r>
            <a:r>
              <a:rPr b="1" i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BatchNorm</a:t>
            </a: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, and  </a:t>
            </a:r>
            <a:r>
              <a:rPr b="1" i="1"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Dropout</a:t>
            </a:r>
            <a:r>
              <a:rPr lang="en-US" sz="16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 for tuned training</a:t>
            </a:r>
            <a:endParaRPr sz="16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134" name="Google Shape;134;p3" title="Screenshot 2025-12-07 at 11.37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1950" y="1711792"/>
            <a:ext cx="3409950" cy="399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3" title="Screenshot 2025-12-07 at 11.50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65846"/>
            <a:ext cx="700625" cy="69215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700625" y="6591900"/>
            <a:ext cx="2045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</a:rPr>
              <a:t>DECISION 520: Team-45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00625" y="837348"/>
            <a:ext cx="106914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"/>
              <a:buNone/>
            </a:pPr>
            <a:r>
              <a:rPr lang="en-US" sz="3800"/>
              <a:t>Business Application</a:t>
            </a:r>
            <a:endParaRPr sz="3800"/>
          </a:p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00625" y="1596800"/>
            <a:ext cx="5993700" cy="18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2"/>
              <a:t>Opportunity:</a:t>
            </a:r>
            <a:endParaRPr b="1" sz="2852"/>
          </a:p>
          <a:p>
            <a:pPr indent="-174062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52"/>
              <a:t>Streaming platforms spend </a:t>
            </a:r>
            <a:r>
              <a:rPr b="1" lang="en-US" sz="2852"/>
              <a:t>$500M+</a:t>
            </a:r>
            <a:r>
              <a:rPr lang="en-US" sz="2852"/>
              <a:t> annually promoting new releases.</a:t>
            </a:r>
            <a:endParaRPr sz="2852"/>
          </a:p>
          <a:p>
            <a:pPr indent="-174062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52"/>
              <a:t>Budgets are often spread evenly, leading to wasted marketing spend.</a:t>
            </a:r>
            <a:endParaRPr sz="2852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2"/>
              <a:t>Solution:</a:t>
            </a:r>
            <a:endParaRPr b="1" sz="2852"/>
          </a:p>
          <a:p>
            <a:pPr indent="-174062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52"/>
              <a:t>Our model predicts high-potential songs before release using audio features.</a:t>
            </a:r>
            <a:endParaRPr sz="2852"/>
          </a:p>
          <a:p>
            <a:pPr indent="-174062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52"/>
              <a:t>Platforms can allocate</a:t>
            </a:r>
            <a:r>
              <a:rPr b="1" lang="en-US" sz="2852"/>
              <a:t> 70%</a:t>
            </a:r>
            <a:r>
              <a:rPr lang="en-US" sz="2852"/>
              <a:t> of marketing budget to the most promising tracks.</a:t>
            </a:r>
            <a:endParaRPr sz="2852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2650" y="3283700"/>
            <a:ext cx="6947351" cy="264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/>
          <p:nvPr>
            <p:ph idx="1" type="body"/>
          </p:nvPr>
        </p:nvSpPr>
        <p:spPr>
          <a:xfrm>
            <a:off x="6758225" y="1647350"/>
            <a:ext cx="46338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/>
              <a:t>Impact:</a:t>
            </a:r>
            <a:endParaRPr b="1" sz="1350"/>
          </a:p>
          <a:p>
            <a:pPr indent="-174466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350"/>
              <a:t>Baseline Revenue </a:t>
            </a:r>
            <a:r>
              <a:rPr b="1" lang="en-US" sz="1350"/>
              <a:t>(no model)</a:t>
            </a:r>
            <a:r>
              <a:rPr lang="en-US" sz="1350"/>
              <a:t>: </a:t>
            </a:r>
            <a:r>
              <a:rPr b="1" lang="en-US" sz="1350"/>
              <a:t>$750M</a:t>
            </a:r>
            <a:endParaRPr b="1" sz="1350"/>
          </a:p>
          <a:p>
            <a:pPr indent="-174466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350"/>
              <a:t>New Revenue </a:t>
            </a:r>
            <a:r>
              <a:rPr b="1" lang="en-US" sz="1350"/>
              <a:t>(with model): $1.03B</a:t>
            </a:r>
            <a:endParaRPr b="1" sz="1350"/>
          </a:p>
          <a:p>
            <a:pPr indent="-174466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350"/>
              <a:t>Additional Revenue: </a:t>
            </a:r>
            <a:r>
              <a:rPr b="1" lang="en-US" sz="1350"/>
              <a:t>+$280M</a:t>
            </a:r>
            <a:endParaRPr b="1" sz="1350"/>
          </a:p>
          <a:p>
            <a:pPr indent="-174466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350"/>
              <a:t>ROI Improvement: from </a:t>
            </a:r>
            <a:r>
              <a:rPr b="1" lang="en-US" sz="1350"/>
              <a:t>1.5× → 2.06× per $1 spent</a:t>
            </a:r>
            <a:endParaRPr b="1" sz="1350"/>
          </a:p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145" name="Google Shape;145;p4" title="Screenshot 2025-12-07 at 11.50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65846"/>
            <a:ext cx="700625" cy="69215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700625" y="6591900"/>
            <a:ext cx="2045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</a:rPr>
              <a:t>DECISION 520: Team-45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2025-12-06T23:15:35Z</dcterms:created>
  <dc:creator>Sam MacArthur</dc:creator>
</cp:coreProperties>
</file>